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 Hofer" userId="67ac7efa-a52a-43cb-b01c-47247da2c19f" providerId="ADAL" clId="{88EBABB9-85A0-40DD-8F5C-E87792D92375}"/>
    <pc:docChg chg="custSel modSld">
      <pc:chgData name="Philipp Hofer" userId="67ac7efa-a52a-43cb-b01c-47247da2c19f" providerId="ADAL" clId="{88EBABB9-85A0-40DD-8F5C-E87792D92375}" dt="2026-06-01T11:07:01.464" v="2" actId="20577"/>
      <pc:docMkLst>
        <pc:docMk/>
      </pc:docMkLst>
      <pc:sldChg chg="modSp mod">
        <pc:chgData name="Philipp Hofer" userId="67ac7efa-a52a-43cb-b01c-47247da2c19f" providerId="ADAL" clId="{88EBABB9-85A0-40DD-8F5C-E87792D92375}" dt="2026-06-01T11:07:01.464" v="2" actId="20577"/>
        <pc:sldMkLst>
          <pc:docMk/>
          <pc:sldMk cId="0" sldId="256"/>
        </pc:sldMkLst>
        <pc:spChg chg="mod">
          <ac:chgData name="Philipp Hofer" userId="67ac7efa-a52a-43cb-b01c-47247da2c19f" providerId="ADAL" clId="{88EBABB9-85A0-40DD-8F5C-E87792D92375}" dt="2026-06-01T11:07:01.448" v="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hilipp Hofer" userId="67ac7efa-a52a-43cb-b01c-47247da2c19f" providerId="ADAL" clId="{88EBABB9-85A0-40DD-8F5C-E87792D92375}" dt="2026-06-01T11:07:01.460" v="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ilipp Hofer" userId="67ac7efa-a52a-43cb-b01c-47247da2c19f" providerId="ADAL" clId="{88EBABB9-85A0-40DD-8F5C-E87792D92375}" dt="2026-06-01T11:07:01.464" v="2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66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38200"/>
            <a:ext cx="5143500" cy="4572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257300"/>
            <a:ext cx="1905000" cy="3186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6800" y="1842641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50" b="1" kern="0" spc="-22" dirty="0">
                <a:solidFill>
                  <a:srgbClr val="3C2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 und die digitale Transformation des Bankwesens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066800" y="2615952"/>
            <a:ext cx="457200" cy="28575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1066800" y="2815977"/>
            <a:ext cx="4512945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Fallstudie 2 — Digitale Finanzwirtschaft</a:t>
            </a:r>
            <a:endParaRPr lang="en-US" sz="1275" dirty="0"/>
          </a:p>
        </p:txBody>
      </p:sp>
      <p:sp>
        <p:nvSpPr>
          <p:cNvPr id="8" name="Text 4"/>
          <p:cNvSpPr/>
          <p:nvPr/>
        </p:nvSpPr>
        <p:spPr>
          <a:xfrm>
            <a:off x="1066800" y="3099792"/>
            <a:ext cx="4512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Sommersemester 2026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066800" y="4327327"/>
            <a:ext cx="451294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 Hofer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1066800" y="4608314"/>
            <a:ext cx="451294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Universität Augsburg · Lehrstuhl für Financial Data Analytics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1066800" y="4818757"/>
            <a:ext cx="4512945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Augsburg, Mai 2026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Zehn Leitfragen zur Fallstudie Revolut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2075855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3400" y="1714500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76350" y="1781175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als disruptive Innovation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362700" y="2075855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362700" y="1714500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05650" y="1781175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Risiken der internationalen Expansion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533400" y="258008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3400" y="2218730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" y="2285405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Strukturelle Schwächen &amp; Mobile-First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362700" y="258008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362700" y="2218730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105650" y="2285405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Regulatorische Herausforderungen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533400" y="308431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3400" y="272295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6350" y="278963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Plattformstrategie: Vom Fintech zur Super App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6362700" y="308431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362700" y="272295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105650" y="278963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Nachhaltigkeit des Freemium-Modells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533400" y="358854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3400" y="322718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76350" y="329386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Netzwerkeffekte, Daten &amp; Automatisierung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6362700" y="3588544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362700" y="322718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09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105650" y="329386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 Optionen traditioneller Banken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533400" y="4092773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33400" y="373141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76350" y="379809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Nachhaltige vs. imitierbare Wettbewerbsvorteile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6362700" y="4092773"/>
            <a:ext cx="52959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362700" y="373141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105650" y="3798094"/>
            <a:ext cx="468953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Tech, Banken &amp; die Kundenschnittstelle</a:t>
            </a:r>
            <a:endParaRPr lang="en-US" sz="1275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009037" y="6553200"/>
            <a:ext cx="3759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als disruptive Innovation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Einordnung nach Christensen — Low-End- und New-Market-Disruption kombiniert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2209800"/>
            <a:ext cx="1079182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erfüllt mehrere zentrale Kriterien einer disruptiven Innovation nach Christensen: Einstieg über vernachlässigte Kundensegmente, einfacheres und günstigeres Angebot, anschließendes Vordringen in höhere Marktbereiche.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1050" y="3552825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New-Market-Disruption: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spricht digital-affine, mobile Zielgruppen an, die klassische Filialbanken bewusst meiden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1050" y="4038600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Innovator's Dilemma: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Banken konzentrieren sich auf profitable Kernkunden und übersehen das untere Segment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1050" y="4524375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Technologietreiber: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Cloud, APIs und Open Banking (PSD2) senken Marktzutrittsbarrieren drastisch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81050" y="5010150"/>
            <a:ext cx="112113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Aufstieg im Markt: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sukzessive Erweiterung um Trading, Krypto, Kredite und Versicherungen — Bewegung in das Premium-Segment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11269" y="6553200"/>
            <a:ext cx="37567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Disruptions-Pfad nach Christensen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Wie Revolut sich vom unteren Segment in den Mainstream bewegt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4572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5167" y="6553200"/>
            <a:ext cx="37630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Strukturelle Schwächen traditioneller Banken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Mobile-First als strategischer Hebel für asymmetrische Wettbewerbsvorteile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Schwächen, die Revolut ausnutzt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6720" y="1943100"/>
            <a:ext cx="5516880" cy="14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Legacy-IT mit jahrzehntealten Kernbankensystemen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Fixkosten durch dichte Filialnetze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Langsame Innovationszyklen und komplexe Governance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Intransparente FX-Gebühren und versteckte Wechselkursaufschläge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Träge Kontoeröffnung mit Medienbruch (Filiale, Postident)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46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Warum Mobile-First entscheidend war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943100"/>
            <a:ext cx="5516880" cy="1706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Trifft auf Konsumentenverhalten: Smartphone als primärer Finanz-Touchpoint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Echtzeit-UX schafft sofortige Wahrnehmung von Mehrwert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Niedrige CAC durch organisches Wachstum &amp; virales Marketing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Skalierung ohne physische Infrastruktur — niedrige Grenzkosten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Datenrückkanal in Echtzeit ermöglicht schnelle Produktiteration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11418" y="6553200"/>
            <a:ext cx="37565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Banken vs. Revolut im direkten Vergleich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Sechs Dimensionen, in denen sich Geschäftsmodelle strukturell unterscheiden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1600200"/>
            <a:ext cx="3113633" cy="4476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37508" y="1600200"/>
            <a:ext cx="952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733550"/>
            <a:ext cx="28927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47033" y="1600200"/>
            <a:ext cx="4003328" cy="4476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640836" y="1600200"/>
            <a:ext cx="952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799433" y="1733550"/>
            <a:ext cx="38091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Traditionelle Bank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50361" y="1600200"/>
            <a:ext cx="4003477" cy="4476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802761" y="1733550"/>
            <a:ext cx="38187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3400" y="2047875"/>
            <a:ext cx="3113633" cy="433388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33400" y="2471738"/>
            <a:ext cx="3113633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37508" y="2047875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85800" y="2171700"/>
            <a:ext cx="2892717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Kontoeröffnung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47033" y="2471738"/>
            <a:ext cx="4003328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640836" y="2047875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799433" y="2171700"/>
            <a:ext cx="380910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Tage, Filialbesuch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50361" y="2471738"/>
            <a:ext cx="4003477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11644313" y="2047875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802761" y="2171700"/>
            <a:ext cx="380925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Minuten, 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3400" y="2481263"/>
            <a:ext cx="3113633" cy="4381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533400" y="2909888"/>
            <a:ext cx="3113633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637508" y="24812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647033" y="2909888"/>
            <a:ext cx="4003328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7640836" y="24812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799433" y="2605087"/>
            <a:ext cx="38091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1,5–4 % + Spread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50361" y="2909888"/>
            <a:ext cx="4003477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11644313" y="24812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7802761" y="2605087"/>
            <a:ext cx="38092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0 % (innerhalb Limits)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3400" y="2919413"/>
            <a:ext cx="3113633" cy="4381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533400" y="3348038"/>
            <a:ext cx="3113633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3637508" y="29194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85800" y="3043238"/>
            <a:ext cx="28927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IT-Architektur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47033" y="3348038"/>
            <a:ext cx="4003328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7640836" y="29194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3799433" y="3043238"/>
            <a:ext cx="38091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Legacy Mainframe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50361" y="3348038"/>
            <a:ext cx="4003477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11644313" y="29194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7802761" y="3043238"/>
            <a:ext cx="38092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Cloud-native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3400" y="3357563"/>
            <a:ext cx="3113633" cy="4381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533400" y="3786188"/>
            <a:ext cx="3113633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3637508" y="33575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685800" y="3481388"/>
            <a:ext cx="28927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Filialnetz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47033" y="3786188"/>
            <a:ext cx="4003328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7640836" y="33575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3799433" y="3481388"/>
            <a:ext cx="38091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Hundert(e) Filialen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50361" y="3786188"/>
            <a:ext cx="4003477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11644313" y="335756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7802761" y="3481388"/>
            <a:ext cx="38092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Null Filialen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3400" y="3795713"/>
            <a:ext cx="3113633" cy="4381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533400" y="4224338"/>
            <a:ext cx="3113633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3637508" y="37957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685800" y="3919538"/>
            <a:ext cx="28927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Innovationszyklus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47033" y="4224338"/>
            <a:ext cx="4003328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7640836" y="37957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3799433" y="3919538"/>
            <a:ext cx="38091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Quartale / Jahre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50361" y="4224338"/>
            <a:ext cx="4003477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Shape 59"/>
          <p:cNvSpPr/>
          <p:nvPr/>
        </p:nvSpPr>
        <p:spPr>
          <a:xfrm>
            <a:off x="11644313" y="3795713"/>
            <a:ext cx="9525" cy="4381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7802761" y="3919538"/>
            <a:ext cx="38092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Wochen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33400" y="4233863"/>
            <a:ext cx="3113633" cy="433388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3637508" y="4233863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685800" y="4357688"/>
            <a:ext cx="289271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Hauptkanal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40836" y="4233863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3799433" y="4357688"/>
            <a:ext cx="380910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Filiale + Online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644313" y="4233863"/>
            <a:ext cx="9525" cy="43338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7802761" y="4357688"/>
            <a:ext cx="38092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Mobile-First</a:t>
            </a:r>
            <a:endParaRPr lang="en-US" sz="1200" dirty="0"/>
          </a:p>
        </p:txBody>
      </p:sp>
      <p:pic>
        <p:nvPicPr>
          <p:cNvPr id="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8011567" y="6553200"/>
            <a:ext cx="37564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Von der Neobank zur Super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Plattformlogik als zentrales Wachstumsparadigma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2052637"/>
            <a:ext cx="107918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Revoluts Entwicklung zur Super App folgt klassischen Plattformprinzipien: Bündelung heterogener Dienste, Aktivierung von Cross-Side-Effekten und Aufbau hoher Switching Costs durch ein integriertes Erlebnis.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1050" y="2909888"/>
            <a:ext cx="112113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Mehrseitiger Markt: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Nutzer, Drittanbieter (Partnermarken bei eSIM, Reisen) und Investmentprodukt-Anbieter werden auf einer App verbunden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1050" y="3709988"/>
            <a:ext cx="112113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Cross-Selling als Default: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jede neue Funktion (Krypto, Aktien, Versicherung) erhöht den Umsatz pro bestehendem Nutzer (ARPU) ohne neuen CAC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1050" y="4510088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 als Plattform-Asset: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Transaktionsdaten ermöglichen Personalisierung, Risiko-Scoring und Robo-Advisory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81050" y="4995863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Lock-in-Effekte: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Multi-Currency-Wallet, gespeicherte Karten, Verlauf und Steuerexporte erschweren den Wechsel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1050" y="5481638"/>
            <a:ext cx="112113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Erweiterung Finanz → Lifestyle: </a:t>
            </a: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eSIM, Reisen, Stays — Annäherung an asiatische Vorbilder (WeChat, Alipay)</a:t>
            </a:r>
            <a:endParaRPr lang="en-US" sz="16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16180" y="6553200"/>
            <a:ext cx="375169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 Revolut-Ökosystem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Konzentrische Plattformschichten — vom Kernbanking zum Lifestyle-Layer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76962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10600" y="2825353"/>
            <a:ext cx="171450" cy="1714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8877300" y="2830116"/>
            <a:ext cx="586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Zentrum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77300" y="3053953"/>
            <a:ext cx="286473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Plattform-Identität &amp; App-Erlebnis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8610600" y="3398639"/>
            <a:ext cx="171450" cy="17145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877300" y="3403402"/>
            <a:ext cx="8294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Kernbanking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77300" y="3627239"/>
            <a:ext cx="286473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Konto, Karte, P2P, FX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8610600" y="3971925"/>
            <a:ext cx="171450" cy="171450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8877300" y="3976687"/>
            <a:ext cx="4896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Wealth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77300" y="4200525"/>
            <a:ext cx="286473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Aktien, Krypto, Sparen, Robo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610600" y="4545211"/>
            <a:ext cx="171450" cy="1714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8877300" y="4549973"/>
            <a:ext cx="6040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Lifestyle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77300" y="4773811"/>
            <a:ext cx="2864739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eSIM, Reisen, Versicherung, Kredite</a:t>
            </a:r>
            <a:endParaRPr lang="en-US" sz="975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11120" y="6553200"/>
            <a:ext cx="37569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Netzwerkeffekte und datengetriebene Skalierung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Wie Revolut Wachstum bei nahezu konstanten Grenzkosten erreicht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Netzwerkeffekte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950" y="1943100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Direkte Effekte: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P2P-Zahlungen, Splitting, „Revolut-zu-Revolut" sofort und gebührenfrei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2950" y="2470547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Indirekte Effekte: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 Nutzer → attraktiver für Partner (eSIM, Versicherer, Broker)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2997994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Empfehlungsprogramme: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virales Wachstum durch Ambassador-Modelle und gebrandete Referral-Links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3525441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Soziale Layer: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geteilte Konten, Gruppensparen, Family-Accounts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46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Datengetriebene Skalierung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150" y="1943100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Automatisiertes Onboarding: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vollständig digitales KYC mit OCR und Liveness-Check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4150" y="2470547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ML-gestützte Risikoprüfung: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Echtzeit-AML- und Fraud-Detection auf Transaktionsmustern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4150" y="2997994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Personalisierte Cross-Sell-Trigger: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datenbasierte Produktvorschläge in der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4150" y="3525441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Niedrige Grenzkosten: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Skalierung ohne Vertriebs- oder Filialstrukturen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11716" y="6553200"/>
            <a:ext cx="375629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Der Wachstums-Flywheel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Vier sich gegenseitig verstärkende Stationen — Wachstum bei sinkenden Grenzkosten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4572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64388" y="6553200"/>
            <a:ext cx="3805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Nachhaltige vs. imitierbare Wettbewerbsvorteile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 Revolut verteidigbar ist — und wo Banken weiter punkten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1600200"/>
            <a:ext cx="3530501" cy="3810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3400" y="1771650"/>
            <a:ext cx="36364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Nachhaltig (Revolut)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6720" y="2095500"/>
            <a:ext cx="3713381" cy="1178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Globale Lizenz- &amp; Cloud-Skalierung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Datenvorsprung durch Frequenz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UX-DNA: Schnelligkeit der Iteration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Marke bei jungen, mobilen Zielgruppen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0601" y="1600200"/>
            <a:ext cx="3530650" cy="38100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330601" y="1771650"/>
            <a:ext cx="36365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Leicht imitierbar (Revolut)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23921" y="2095500"/>
            <a:ext cx="3713530" cy="1178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Einzelne Features (Krypto, Aktien, eSIM)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Visuelles App-Design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Freemium-Tarifstruktur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Cashback- und Bonus-Mechaniken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950" y="1600200"/>
            <a:ext cx="3530501" cy="3810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127950" y="1771650"/>
            <a:ext cx="36364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Bleibende Stärken (Banken)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21270" y="2095500"/>
            <a:ext cx="3713381" cy="1841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Vertrauen, Einlagensicherung &amp; jahrzehntelange Brand Equity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Regulatorische Reife &amp; Compliance-Erfahrung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Komplexe Produkte: Hypothek, Firmenkredit, M&amp;A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Bestehende Beziehung zu älteren, vermögenden Kunden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88350" y="6553200"/>
            <a:ext cx="37803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Wettbewerbsvorteile-Matrix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Strategischer Wert × Imitierbarkeit — der Burggraben liegt oben links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4572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66472" y="6553200"/>
            <a:ext cx="380289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Risiken aggressiver internationaler Expansion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Vier Risikoschichten gleichzeitig — keine isoliert lösbar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771650"/>
            <a:ext cx="55528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28B9D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 — REGULATORISCH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33400" y="2000250"/>
            <a:ext cx="555288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25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Heterogene Lizenzlandschaft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33400" y="2293590"/>
            <a:ext cx="55528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Lizenzanforderungen variieren stark zwischen Jurisdiktionen (EU, UK, USA, APAC). Lokale Aufsichten verlangen eigene Compliance-Strukturen und Reporting-Pfade.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267450" y="1771650"/>
            <a:ext cx="55528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28B9D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 — OPERATIV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267450" y="2000250"/>
            <a:ext cx="555288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25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Lokalisierungsaufwand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267450" y="2293590"/>
            <a:ext cx="555288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Komplexität in lokalem Zahlungsverkehr, Sprachen, Kundensupport und Produktanpassung — etwa lokale Steuermodelle, Lastschriftverfahren und Identifikations­standards.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33400" y="4171950"/>
            <a:ext cx="55528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28B9D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 — WETTBEWERBLICH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3400" y="4400550"/>
            <a:ext cx="555288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25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Lokale Champions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533400" y="4693890"/>
            <a:ext cx="55528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Starke Player vor Ort — N26 in Deutschland, Monzo in UK, Nubank in LATAM. Der First-Mover-Vorteil entfällt regional; Markteintritt kostet Wachstum, nicht nur Geld.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267450" y="4171950"/>
            <a:ext cx="55528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28B9D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 — REPUTATION &amp; COMPLIANCE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267450" y="4400550"/>
            <a:ext cx="555288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25" b="1" kern="0" spc="-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Kaskadierende Lizenzrisiken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267450" y="4693890"/>
            <a:ext cx="55528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AML-Vorfälle in einem Markt können globale Lizenzen gefährden — Beispiel: Verzögerungen bei der britischen Banklizenz wegen Audit-Findings.</a:t>
            </a:r>
            <a:endParaRPr lang="en-US" sz="1125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68704" y="6553200"/>
            <a:ext cx="38005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Geografische Risiko-Heatmap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Stilisierte Bewertung pro Region und Risiko-Dimension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4572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62454" y="6553200"/>
            <a:ext cx="38070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Regulatorische Herausforderungen für Fintech-Plattformen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Wachsende Komplexität entlang des gesamten Produkt-Stacks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2412206"/>
            <a:ext cx="107918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Fintech-Plattformen unterliegen einem stetig wachsenden Regulierungskorridor, der weit über klassische Bankaufsicht hinausgeht und mehrere überlappende EU-Rahmenwerke umfasst.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1050" y="3269456"/>
            <a:ext cx="52071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Banklizenz vs. E-Money: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unterschiedliche Erlaubnistypen mit erheblichen Kapital- und Berichtsanforderungen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81050" y="3945731"/>
            <a:ext cx="5207127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AML / KYC: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verschärfte Anforderungen an Echtzeit-Geldwäscheprävention; Plattformen wachsen oft schneller als Kontrollmechanismen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81050" y="4893469"/>
            <a:ext cx="52071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DSGVO &amp; Datenethik: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Datenschutz wird zum Differenzierungs- und Risikofaktor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610350" y="3269456"/>
            <a:ext cx="52071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DORA: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verpflichtende IT-Resilienz, Drittanbieter-Management und Vorfallsmeldungen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610350" y="3945731"/>
            <a:ext cx="52071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MiCA: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erstmals harmonisierter EU-Rahmen für Krypto-Dienstleistungen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610350" y="4622006"/>
            <a:ext cx="52071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PSD2 / PSD3: </a:t>
            </a:r>
            <a:r>
              <a:rPr lang="en-US" sz="14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Open-Banking-Schnittstellen und strenge Authentifizierungs-Standards (SCA)</a:t>
            </a:r>
            <a:endParaRPr lang="en-US" sz="142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68853" y="6553200"/>
            <a:ext cx="38004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Regulatorischer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Vier Schichten — von der Lizenzbasis bis zu produktspezifischen Rahmenwerken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2255639"/>
            <a:ext cx="8686800" cy="75813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62000" y="2568029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EBENE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90700" y="2427089"/>
            <a:ext cx="741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Produktspezifische Regulierung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90700" y="2655689"/>
            <a:ext cx="741692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MiCA (Krypto) · PSD2/3 (Payments) · MiFID (Securities)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3400" y="3089970"/>
            <a:ext cx="8686800" cy="758130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62000" y="3402360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EBENE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90700" y="3261420"/>
            <a:ext cx="741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&amp; Daten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90700" y="3490020"/>
            <a:ext cx="741692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DSGVO · DORA · Cybersecurity-Resilienz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3400" y="3924300"/>
            <a:ext cx="8686800" cy="75813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62000" y="4236690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EBENE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90700" y="4095750"/>
            <a:ext cx="741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Risiko &amp; Compliance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90700" y="4324350"/>
            <a:ext cx="741692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AML · KYC · Sanktionen · Transaction Monitoring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400" y="4758630"/>
            <a:ext cx="8686800" cy="75813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62000" y="5071021"/>
            <a:ext cx="9144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EBENE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90700" y="4930080"/>
            <a:ext cx="74169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Lizenzierung &amp; Aufsicht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790700" y="5158680"/>
            <a:ext cx="741692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Banklizenz · EMI · BaFin / FCA / ECB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00" y="3014663"/>
            <a:ext cx="266700" cy="1143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925050" y="3336131"/>
            <a:ext cx="93970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Wachsende regulatorische Tiefe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563100" y="4291013"/>
            <a:ext cx="20955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9563100" y="4433888"/>
            <a:ext cx="2171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Jede neue Produktebene aktiviert zusätzliche Rahmenwerke — Compliance wird zur Plattform-Kapazität.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968853" y="6553200"/>
            <a:ext cx="38004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Ist das Freemium-Modell langfristig nachhaltig?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Nachhaltigkeit hängt am Zusammenspiel aus Conversion, Cross-Sell und Kostendisziplin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1600200"/>
            <a:ext cx="5448300" cy="7810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1676" y="1752600"/>
            <a:ext cx="56117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33400" y="2381250"/>
            <a:ext cx="5448300" cy="3185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33400" y="5556945"/>
            <a:ext cx="54483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33400" y="2381250"/>
            <a:ext cx="9525" cy="318522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972175" y="2381250"/>
            <a:ext cx="9525" cy="318522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52475" y="2552700"/>
            <a:ext cx="51604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Argumente für Nachhaltigkeit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50875" y="2800350"/>
            <a:ext cx="5187950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Niedrige CAC durch organisches Wachstum &amp; Empfehlungen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Funnel: Free → Plus / Premium → Metal verlängert den ARPU-Hebel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Querverkaufsrate (Krypto, Trading, Versicherung) finanziert Free-Kosten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B2B-Sparte (Revolut Business) verbreitert das Umsatzfundament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210300" y="1600200"/>
            <a:ext cx="5448300" cy="7810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8576" y="1752600"/>
            <a:ext cx="56117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210300" y="2381250"/>
            <a:ext cx="5448300" cy="3185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210300" y="5556945"/>
            <a:ext cx="54483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210300" y="2381250"/>
            <a:ext cx="9525" cy="318522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1649075" y="2381250"/>
            <a:ext cx="9525" cy="318522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429375" y="2552700"/>
            <a:ext cx="51604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Argumente dagegen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327775" y="2800350"/>
            <a:ext cx="5187950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Conversion zu zahlenden Plänen bleibt strukturell niedrig (oft &lt;10 %)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Free-Nutzer verursachen reale Kosten (Compliance, Karten, Support)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Steigende regulatorische &amp; Compliance-Kosten skalieren mit Nutzerzahl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Premium-Features sind imitierbar — Preisdruck durch N26, Monzo, Banken-Apps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33400" y="5699820"/>
            <a:ext cx="11125200" cy="47238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42950" y="5833170"/>
            <a:ext cx="1103985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-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Fazit: Nachhaltig nur bei gleichzeitigem Wachstum von Premium-Conversion, Cross-Sell und B2B-Sparte.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973616" y="6553200"/>
            <a:ext cx="37955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Freemium-Funnel und Monetarisierung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Tarifverteilung links, illustrative Umsatzstruktur rechts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45720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62600" y="2357438"/>
            <a:ext cx="62788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Umsatzquellen (illustrativ)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62600" y="2709863"/>
            <a:ext cx="10962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Interchange Fees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73892" y="2709863"/>
            <a:ext cx="3609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30 %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62600" y="2909888"/>
            <a:ext cx="6096000" cy="1714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562600" y="2909888"/>
            <a:ext cx="3657600" cy="17145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562600" y="3214688"/>
            <a:ext cx="9673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Premium-Abos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72552" y="3214688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22 %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62600" y="3414713"/>
            <a:ext cx="6096000" cy="1714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562600" y="3414713"/>
            <a:ext cx="2682180" cy="17145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562600" y="3719512"/>
            <a:ext cx="14873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FX-Gebühren über Limit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02467" y="3719512"/>
            <a:ext cx="3323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18 %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62600" y="3919537"/>
            <a:ext cx="6096000" cy="1714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562600" y="3919537"/>
            <a:ext cx="2194471" cy="171450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562600" y="4224338"/>
            <a:ext cx="17540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Trading- &amp; Krypto-Gebühren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408569" y="4224338"/>
            <a:ext cx="3262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17 %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62600" y="4424363"/>
            <a:ext cx="6096000" cy="1714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5562600" y="4424363"/>
            <a:ext cx="2072580" cy="171450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5562600" y="4729163"/>
            <a:ext cx="13214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Zinserträge / Kredite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02616" y="4729163"/>
            <a:ext cx="3321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13 %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562600" y="4929188"/>
            <a:ext cx="6096000" cy="1714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4"/>
          <p:cNvSpPr/>
          <p:nvPr/>
        </p:nvSpPr>
        <p:spPr>
          <a:xfrm>
            <a:off x="5562600" y="4929188"/>
            <a:ext cx="1584871" cy="171450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5562600" y="5291138"/>
            <a:ext cx="62788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i="1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Anteile beispielhaft — die genaue Mischung verschiebt sich mit Cross-Sell-Erfolg.</a:t>
            </a:r>
            <a:endParaRPr lang="en-US" sz="825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968407" y="6553200"/>
            <a:ext cx="380089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 Optionen für traditionelle Banken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Drei Pfade — mit jeweils eigenem Risiko- und Geschwindigkeitsprofil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1600200"/>
            <a:ext cx="3555950" cy="4095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04850" y="1714500"/>
            <a:ext cx="33197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Plattformaufbau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009775"/>
            <a:ext cx="228600" cy="95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33400" y="2095500"/>
            <a:ext cx="355595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85825" y="2257425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volle Kontrolle, Datenhoheit, Markenstärkung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885825" y="2524274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langfristige Differenzierung im Kerngeschäft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885825" y="2791123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sehr lange Time-to-Market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885825" y="3057971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Investitionen und kulturelle Hürden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714375" y="3372445"/>
            <a:ext cx="31940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14375" y="3477220"/>
            <a:ext cx="32898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Beispiele: </a:t>
            </a:r>
            <a:r>
              <a:rPr lang="en-US" sz="938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DKB · ING-DiBa · Comdirect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4317950" y="1600200"/>
            <a:ext cx="3555950" cy="4095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489400" y="1714500"/>
            <a:ext cx="33197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Kooperation &amp; BaaS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84650" y="2009775"/>
            <a:ext cx="228600" cy="95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317950" y="2095500"/>
            <a:ext cx="355595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670375" y="2257425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schnelle Time-to-Market</a:t>
            </a:r>
            <a:endParaRPr lang="en-US" sz="1088" dirty="0"/>
          </a:p>
        </p:txBody>
      </p:sp>
      <p:sp>
        <p:nvSpPr>
          <p:cNvPr id="21" name="Text 19"/>
          <p:cNvSpPr/>
          <p:nvPr/>
        </p:nvSpPr>
        <p:spPr>
          <a:xfrm>
            <a:off x="4670375" y="2524274"/>
            <a:ext cx="3118370" cy="43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komplementäre Stärken nutzen, geringere CapEx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670375" y="2991296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geteilte Marge, Partner-Abhängigkeit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4670375" y="3258145"/>
            <a:ext cx="311837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schwächere Markenkontrolle</a:t>
            </a:r>
            <a:endParaRPr lang="en-US" sz="1088" dirty="0"/>
          </a:p>
        </p:txBody>
      </p:sp>
      <p:sp>
        <p:nvSpPr>
          <p:cNvPr id="24" name="Shape 22"/>
          <p:cNvSpPr/>
          <p:nvPr/>
        </p:nvSpPr>
        <p:spPr>
          <a:xfrm>
            <a:off x="4498925" y="3572619"/>
            <a:ext cx="31940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498925" y="3677394"/>
            <a:ext cx="32898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Beispiele: </a:t>
            </a:r>
            <a:r>
              <a:rPr lang="en-US" sz="938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Solaris · BBVA-API-Plattformen</a:t>
            </a:r>
            <a:endParaRPr lang="en-US" sz="938" dirty="0"/>
          </a:p>
        </p:txBody>
      </p:sp>
      <p:sp>
        <p:nvSpPr>
          <p:cNvPr id="26" name="Shape 24"/>
          <p:cNvSpPr/>
          <p:nvPr/>
        </p:nvSpPr>
        <p:spPr>
          <a:xfrm>
            <a:off x="8102501" y="1600200"/>
            <a:ext cx="3556099" cy="409575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8273951" y="1714500"/>
            <a:ext cx="33198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Übernahme (M&amp;A)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9201" y="2009775"/>
            <a:ext cx="228600" cy="95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8102501" y="2095500"/>
            <a:ext cx="3556099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8454926" y="2257425"/>
            <a:ext cx="3118524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sofortiger Tech- und Talent-Erwerb</a:t>
            </a:r>
            <a:endParaRPr lang="en-US" sz="1088" dirty="0"/>
          </a:p>
        </p:txBody>
      </p:sp>
      <p:sp>
        <p:nvSpPr>
          <p:cNvPr id="31" name="Text 29"/>
          <p:cNvSpPr/>
          <p:nvPr/>
        </p:nvSpPr>
        <p:spPr>
          <a:xfrm>
            <a:off x="8454926" y="2524274"/>
            <a:ext cx="3118524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etablierte Nutzerbasis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8454926" y="2791123"/>
            <a:ext cx="3118524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Bewertungen, Integrationsrisiko</a:t>
            </a:r>
            <a:endParaRPr lang="en-US" sz="1088" dirty="0"/>
          </a:p>
        </p:txBody>
      </p:sp>
      <p:sp>
        <p:nvSpPr>
          <p:cNvPr id="33" name="Text 31"/>
          <p:cNvSpPr/>
          <p:nvPr/>
        </p:nvSpPr>
        <p:spPr>
          <a:xfrm>
            <a:off x="8454926" y="3057971"/>
            <a:ext cx="3118524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Contra: </a:t>
            </a:r>
            <a:r>
              <a:rPr lang="en-US" sz="1088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Brain-Drain nach Closing</a:t>
            </a:r>
            <a:endParaRPr lang="en-US" sz="1088" dirty="0"/>
          </a:p>
        </p:txBody>
      </p:sp>
      <p:sp>
        <p:nvSpPr>
          <p:cNvPr id="34" name="Shape 32"/>
          <p:cNvSpPr/>
          <p:nvPr/>
        </p:nvSpPr>
        <p:spPr>
          <a:xfrm>
            <a:off x="8283476" y="3372445"/>
            <a:ext cx="3194149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8283476" y="3477220"/>
            <a:ext cx="32899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Beispiele: </a:t>
            </a:r>
            <a:r>
              <a:rPr lang="en-US" sz="938" b="1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BBVA-Atom (UK) · gescheitert: JPMorgan-Frank</a:t>
            </a:r>
            <a:endParaRPr lang="en-US" sz="938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969151" y="6553200"/>
            <a:ext cx="38001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Optionen im Trade-off-Vergleich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 Kontrolle gegen Time-to-Market — Bubble-Größe = Investitionsaufwand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4572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41766" y="6553200"/>
            <a:ext cx="38283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Tech und die Kundenschnittstelle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Konvergenz statt Verdrängung — eine geschichtete Marktstruktur entsteht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Big-Tech-Effekte auf den Bankensektor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950" y="1943100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Apple Pay / Google Pay: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Kontrolle des Bezahl-Frontends auf dem Gerät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2950" y="2249686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Apple Savings (mit Goldman):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direkter Einstieg ins Einlagengeschäft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2556272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Amazon Lending: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Embedded Finance für Marketplace-Verkäufer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862858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Vorteile: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massive Distribution, Identitäts-Layer, Trust, Datenökosystem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2950" y="3169444"/>
            <a:ext cx="528447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Risiko für Banken: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Reduzierung auf reines Infrastruktur-Backend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4600" y="1600200"/>
            <a:ext cx="5494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Wer kontrolliert die Kundenschnittstelle?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4150" y="1943100"/>
            <a:ext cx="528447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Konvergenz-These: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reine „Pure Plays" werden seltener — Trade Republic, Scalable und Revolut mit eigener Banklizenz; Banken werden digitaler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4150" y="2470547"/>
            <a:ext cx="5284470" cy="700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Schichten-Modell: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Banken kontrollieren regulierte Infrastruktur und komplexe Produkte; Plattformen das Erlebnis; Big Tech den Identitäts- und Wallet-Layer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4150" y="3218855"/>
            <a:ext cx="5284470" cy="700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Eigene Position: </a:t>
            </a:r>
            <a:r>
              <a:rPr lang="en-US" sz="120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langfristig kein einzelner Gewinner — mehrere Akteure teilen unterschiedliche Schichten. Die Frage ist nicht „wer", sondern „welche Schicht"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67365" y="6553200"/>
            <a:ext cx="38019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857250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11458956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Geschichtete Marktstruktur — Finanzdienstleistungen 2030+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927646"/>
            <a:ext cx="11125200" cy="9525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33400" y="1051471"/>
            <a:ext cx="1145895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Fünf Schichten, mehrere Gewinner — die Wertschöpfung verteilt sich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400" y="1600200"/>
            <a:ext cx="10325100" cy="586234"/>
          </a:xfrm>
          <a:prstGeom prst="rect">
            <a:avLst/>
          </a:prstGeom>
          <a:solidFill>
            <a:srgbClr val="F2F3F5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52475" y="1769418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TOUCHPOINT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57425" y="1724025"/>
            <a:ext cx="86334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Endkunde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7425" y="1895475"/>
            <a:ext cx="863346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wählt situativ den jeweils passenden Layer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533400" y="2243584"/>
            <a:ext cx="10325100" cy="567184"/>
          </a:xfrm>
          <a:prstGeom prst="rect">
            <a:avLst/>
          </a:prstGeom>
          <a:solidFill>
            <a:srgbClr val="BFEA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2950" y="2465189"/>
            <a:ext cx="1409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WALLET &amp; IDENTITÄT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47900" y="2357884"/>
            <a:ext cx="8653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Tech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247900" y="2529334"/>
            <a:ext cx="8653082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Apple / Google Pay · Wallet · biometrische Identität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33400" y="2867918"/>
            <a:ext cx="10325100" cy="567184"/>
          </a:xfrm>
          <a:prstGeom prst="rect">
            <a:avLst/>
          </a:prstGeom>
          <a:solidFill>
            <a:srgbClr val="7ED5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42950" y="3027611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PLATTFORM &amp; ERLEBNIS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247900" y="2982218"/>
            <a:ext cx="8653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Fintechs / Neobanken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247900" y="3153668"/>
            <a:ext cx="8653082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1F1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Super-App-Erlebnis · Personalisierung · UX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533400" y="3492252"/>
            <a:ext cx="10325100" cy="567184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42950" y="3713857"/>
            <a:ext cx="1409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PRODUKTEBENE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247900" y="3606552"/>
            <a:ext cx="8653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Banken + Fintechs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247900" y="3778002"/>
            <a:ext cx="8653082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Konto · Karten · Kredit · Anlage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533400" y="4116586"/>
            <a:ext cx="10325100" cy="567184"/>
          </a:xfrm>
          <a:prstGeom prst="rect">
            <a:avLst/>
          </a:prstGeom>
          <a:solidFill>
            <a:srgbClr val="3C267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42950" y="4276279"/>
            <a:ext cx="140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INFRASTRUKTUR &amp; LIZENZ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247900" y="4230886"/>
            <a:ext cx="86530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Traditionelle Banken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2247900" y="4402336"/>
            <a:ext cx="8653082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Bilanz · Einlagensicherung · Settlement · Compliance</a:t>
            </a:r>
            <a:endParaRPr lang="en-US" sz="975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450" y="1626096"/>
            <a:ext cx="304800" cy="3048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 rot="10800000">
            <a:off x="11310938" y="4731097"/>
            <a:ext cx="2000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3C26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Wertschöpfung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533400" y="5699820"/>
            <a:ext cx="11125200" cy="47238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742950" y="5833170"/>
            <a:ext cx="11039856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kern="0" spc="-6" dirty="0">
                <a:solidFill>
                  <a:srgbClr val="2A1A5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Die Kontrolle der Schnittstelle wird geteilt — Konvergenz, nicht Verdrängung.</a:t>
            </a:r>
            <a:endParaRPr lang="en-US" sz="12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77000"/>
            <a:ext cx="1252686" cy="2095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43701" y="6553200"/>
            <a:ext cx="38263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01.06.2026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Revolut — Digitale Transformation des Bankwesens </a:t>
            </a:r>
            <a:r>
              <a:rPr lang="en-US" sz="900" b="1" kern="0" spc="18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| </a:t>
            </a:r>
            <a:r>
              <a:rPr lang="en-US" sz="900" b="1" kern="0" spc="18" dirty="0">
                <a:solidFill>
                  <a:srgbClr val="4A4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3400"/>
            <a:ext cx="2286000" cy="38233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524500" y="1952253"/>
            <a:ext cx="457200" cy="3810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1"/>
          <p:cNvSpPr/>
          <p:nvPr/>
        </p:nvSpPr>
        <p:spPr>
          <a:xfrm>
            <a:off x="5524500" y="2199903"/>
            <a:ext cx="6082665" cy="1019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450" b="1" kern="0" spc="-3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Vielen Dank für Ihre Aufmerksamkeit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5524500" y="3428926"/>
            <a:ext cx="6082665" cy="345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Philipp Hofer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5524500" y="3736553"/>
            <a:ext cx="60826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BFEA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Lehrstuhl für Financial Data Analytics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524500" y="3995514"/>
            <a:ext cx="60826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BFEA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Universität Augsburg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24500" y="4387825"/>
            <a:ext cx="60826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28B9D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philipp.hofer@uni-augsburg.de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24500" y="4646786"/>
            <a:ext cx="60826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BFEA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www.uni-augsburg.de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8B9D3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1793</Words>
  <Application>Microsoft Office PowerPoint</Application>
  <PresentationFormat>Breitbild</PresentationFormat>
  <Paragraphs>297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6" baseType="lpstr">
      <vt:lpstr>Arial</vt:lpstr>
      <vt:lpstr>Barlow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Hofer, Philipp</cp:lastModifiedBy>
  <cp:revision>1</cp:revision>
  <dcterms:created xsi:type="dcterms:W3CDTF">2026-05-27T16:37:26Z</dcterms:created>
  <dcterms:modified xsi:type="dcterms:W3CDTF">2026-06-01T11:07:10Z</dcterms:modified>
</cp:coreProperties>
</file>